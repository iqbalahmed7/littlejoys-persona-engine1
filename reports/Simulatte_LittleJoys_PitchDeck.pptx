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9202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256032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38404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4805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51206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1673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7510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347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5020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0857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531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4204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0041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5878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1715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200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SALES / 2026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100584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Simulate reality.</a:t>
            </a:r>
            <a:endParaRPr lang="en-US" sz="6800" dirty="0"/>
          </a:p>
          <a:p>
            <a:pPr indent="0" marL="0">
              <a:buNone/>
            </a:pPr>
            <a:r>
              <a:rPr lang="en-US" sz="68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Decide better.</a:t>
            </a:r>
            <a:endParaRPr lang="en-US" sz="6800" dirty="0"/>
          </a:p>
        </p:txBody>
      </p:sp>
      <p:sp>
        <p:nvSpPr>
          <p:cNvPr id="28" name="Shape 26"/>
          <p:cNvSpPr/>
          <p:nvPr/>
        </p:nvSpPr>
        <p:spPr>
          <a:xfrm>
            <a:off x="7863840" y="4640580"/>
            <a:ext cx="109728" cy="109728"/>
          </a:xfrm>
          <a:prstGeom prst="oval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463143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INFRASTRUCTURE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7200" y="46314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simulatte.ai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Research gives you opinions.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Decisions need behaviour.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2633472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Surveys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34640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People report intentions, not actions. Response bias, social desirability, and recall errors are baked in systematically.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286000"/>
            <a:ext cx="2633472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02152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Focus groups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02152" y="2834640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loud voice shapes the room. You hear the group average, not the individual who will actually buy — or not.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2286000"/>
            <a:ext cx="2633472" cy="2286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A/B tests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82512" y="2834640"/>
            <a:ext cx="230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Six to twelve weeks for a single signal. By the time you have an answer, the campaign has already run.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4119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FF3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By the time you have an answer, the moment has passed.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WE ARE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This is not research.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This is infrastructure.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457200" y="2487168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33472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Simulatte creates synthetic consumers — each with their own psychology, memory, values, and decision style — and runs them through simulated real-world scenarios. Every decision is explained, step by step, in the persona's own voice.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651760"/>
            <a:ext cx="237744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67004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12280" y="265176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surveys. No sample bias. No fieldwork latency.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0" y="3310128"/>
            <a:ext cx="237744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332841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12280" y="331012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Every persona is a complete person with a consistent decision architecture across time.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3968496"/>
            <a:ext cx="237744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39867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812280" y="3968496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Results in hours. Hypotheses tested before a single rupee of media spend.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SCIENCE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9-layer persona architecture.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Built on behaviour research.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27632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70992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877824" y="1627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DEMOGRAPHICS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18105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Age, city tier, income, family structure, employment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249424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33172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2494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PSYCHOLOGY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24323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20+ validated attributes — health anxiety, social proof bias, authority bias, loss aversion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871216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29535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77824" y="28712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VALUES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7824" y="3054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Best-for-my-child intensity, supplement necessity belief, nutrition gap awareness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493008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" y="3575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77824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RELATIONSHIPS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77824" y="3675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Child pester power, elder advice weight, spouse decision-sharing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" y="4197096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77824" y="4114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DAILY ROUTINE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77824" y="4297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Shopping platform, morning complexity, deal-seeking intensity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92040" y="1627632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46904" y="1709928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312664" y="1627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CAREER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312664" y="18105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Work hours, time scarcity, career ambition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92040" y="2249424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46904" y="2331720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312664" y="22494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MEMORY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12664" y="24323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Episodic memory (event-by-event) + semantic memory (long-term beliefs)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92040" y="2871216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46904" y="2953512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312664" y="28712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DECISION ARCH.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12664" y="3054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Decision style, trust anchor, risk appetite, coping mechanisms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92040" y="3493008"/>
            <a:ext cx="329184" cy="329184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6904" y="3575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312664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NARRATIVE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312664" y="3675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First-person voice, biographical backstory, purchase decision bullets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4302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5E5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Sampled via Gaussian copula with empirically validated correlation structures. Not made up. Not guessed.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Every decision leaves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complete reasoning trace.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GUT REACTION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Initial emotional response based on personality and past experience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029968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30552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30552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03704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221992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INFO PROCESSING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21992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information does this persona focus on, given their specific attributes?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703320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03904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03904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77056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895344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CONSTRAINT CHECK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95344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Budget, non-negotiables, and trust requirements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376672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77256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77256" y="1627632"/>
            <a:ext cx="1572768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0408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568696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SOCIAL SIGNAL CHECK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68696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would the people in their trust network say?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050024" y="2139696"/>
            <a:ext cx="100584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50608" y="1627632"/>
            <a:ext cx="1572768" cy="285292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150608" y="1627632"/>
            <a:ext cx="1572768" cy="292608"/>
          </a:xfrm>
          <a:prstGeom prst="rect">
            <a:avLst/>
          </a:prstGeom>
          <a:solidFill>
            <a:srgbClr val="A8FF3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0" y="1700784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05050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242048" y="2029968"/>
            <a:ext cx="1389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FINAL DECISION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242048" y="2578608"/>
            <a:ext cx="13898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buy / trial / research_more / defer / reject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44302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E5E5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 don't get an outcome. You get the complete reasoning — auditable, explainable, challengeable.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ENGINE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journey simulates real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consumer time — tick by tick.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64208"/>
            <a:ext cx="4023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journey is a sequence of 45–61 simulation ticks. Each tick can fire a stimulus, a reflection, or a decision. Between ticks, the persona accumulates episodic memories, builds brand trust, and updates their internal state — exactly as a real consumer does over days and weeks.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57200" y="37490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FF3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result is not a snapshot. It is a film of a consumer's complete decision path.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64208"/>
            <a:ext cx="3931920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7922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STIMULUS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919472" y="199339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Instagram ad · WhatsApp WOM · Pediatrician visit · Price drop · Retargeting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2633472"/>
            <a:ext cx="3931920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27614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REFLECTION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919472" y="29626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Persona processes accumulated memories into updated beliefs and brand trust score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3602736"/>
            <a:ext cx="3931920" cy="841248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3730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19472" y="393192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buy · trial · research_more · defer · reject — each with full 5-step reasoning trace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ADVANTAGE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Four structural advantages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 survey can replicate.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2–24h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TIME TO INSIGHT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From business question to result. No fieldwork, no sample recruitment, no waiting.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78608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8336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5-step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2688336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REASONING DEPTH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88336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Every persona's reasoning is auditable. You see the WHY, not just the outcome.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0016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9744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200×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4809744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PARALLEL SCALE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9744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9744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Run every persona simultaneously. Segment any dimension — city, income, decision style.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21424" y="1664208"/>
            <a:ext cx="1938528" cy="29260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1828800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∞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6931152" y="2724912"/>
            <a:ext cx="1719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REPEATABILITY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931152" y="2926080"/>
            <a:ext cx="1719072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31152" y="3017520"/>
            <a:ext cx="1719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Change one variable. Re-run. Compare scenarios head-to-head without a new study.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Six capabilities. One system.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63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9436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Persona Explorer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Browse 200 psychographic profiles. Filter by city tier, age, decision style. Read full narrative and first-person voice.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63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42900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Journey Simulator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2900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Run any business problem as a simulation. Define the stimuli, set decision ticks, fire the engine.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63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26364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Decision Drill-Down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3640" y="22402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Click any persona. See the complete 5-step reasoning trace for every decision moment in their journey.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081528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227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94360" y="34655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Brand Trust Trajectory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94360" y="39044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Watch brand trust build tick-by-tick. See exactly where it spikes and where it stalls.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91840" y="3081528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227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429000" y="34655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Probing Trees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429000" y="39044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Test competing hypotheses. Get an evidence-based verdict: Confirmed / Rejected / Partial.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081528"/>
            <a:ext cx="2651760" cy="15087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32278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63640" y="34655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Conversational Probing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390448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Talk directly to any persona. Ask why they decided what they decided. Get answers in their own voice.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system, running.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651760" cy="3337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2651760" cy="25603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6304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 CARD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0136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Manisha-Bhubaneswar-Mom-40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66928" y="2148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style:  analytical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Trust anchor:    self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84378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Health anxiety:  0.61 / 1.0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3191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Nutrition budget: ₹2,862 / month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66928" y="35387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 children · joint household · Tier-3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10128" y="1417320"/>
            <a:ext cx="2651760" cy="3337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10128" y="1417320"/>
            <a:ext cx="2651760" cy="25603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19856" y="146304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TRACE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19856" y="180136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9E6D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 28 → research_more  (conf: 0.72)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419856" y="2148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"I need to see the ingredient list.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19856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₹250/month extra is manageable.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19856" y="284378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But I won't commit blind."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19856" y="3191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 60 → buy            (conf: 0.78)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419856" y="35387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"The child asked for it by name.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19856" y="3886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That's the only evidence I trust."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63056" y="1417320"/>
            <a:ext cx="2651760" cy="333756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63056" y="1417320"/>
            <a:ext cx="2651760" cy="25603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72784" y="146304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PROBING TREE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72784" y="180136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HYPOTHESIS: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272784" y="214884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Placebo concern = measurement gap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72784" y="2843784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VERDICT: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272784" y="3191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272784" y="38862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Tracked-behaviour reorder rate: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72784" y="423367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2× vs vague-improvement group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CASE STUDY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82296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Indian D2C child nutrition brand. Three live business problems. Three simulation journeys. 200 psychographic personas. Every decision reasoned step by step.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01952"/>
            <a:ext cx="2724912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2029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60120" y="20299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Nutrimix · Age 2–6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21792" y="22494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Nutrimix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Repeat Purchase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2724912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3017520"/>
            <a:ext cx="2395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Strong trial rates and positive NPS. Near-universal reorder. But 2% of buyers lapsed at cycle 2 with no discount trigger. What was the precise mechanism — and what stimulus would protect it at scale?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1792" y="40416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98.0%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21792" y="44256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RATE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901952"/>
            <a:ext cx="2724912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029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813048" y="20299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Magnesium Gummies · Age 3–8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74720" y="22494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Magnesium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Gummies Sales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10128" y="2944368"/>
            <a:ext cx="2724912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3017520"/>
            <a:ext cx="2395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category — near-zero awareness. 67.5% of parents never trial at all. The pediatrician actively discouraged it. What single signal converts a skeptical parent into a first-time buyer?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40416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32.5%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74720" y="44256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BASELINE TRIAL RATE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63056" y="1901952"/>
            <a:ext cx="2724912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2029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665976" y="2029968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Nutrimix · Age 7–14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27648" y="224942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Expanding Nutrimix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into the 7–14 Age Segment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63056" y="2944368"/>
            <a:ext cx="2724912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017520"/>
            <a:ext cx="2395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Competing against Bournvita at a Rs 250 premium. Only 37.2% trialled. Of first-time buyers, 72.7% lapsed. Family pack + child preference signal drove reorder rate from 27.3% to 93.8%.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27648" y="404164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93.8%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27648" y="4425696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AFTER INTERVENTION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COHORT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200 Indian parents.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Fully simulated.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200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Tier 1 · 2 · 3 cities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78608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MIN INCOME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70048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₹2.7L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688336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to ₹54L per annum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00016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37176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NUCLEAR FAMILIES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91456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56%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4809744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33% joint · 11% single parent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21424" y="1719072"/>
            <a:ext cx="1938528" cy="164592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58584" y="1847088"/>
            <a:ext cx="1664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HABITUAL BUYERS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12864" y="2029968"/>
            <a:ext cx="1755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931152" y="276148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24% analytical · 26% emotional · 21% social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These are not demographic buckets. Each persona has a name, a city, a family, and a reason they might say yes — or no.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A  ·  NUTRIMIX REPEAT PURCHASE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Nutrimix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repeat purchase.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RATE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99.0%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2487168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RATE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78608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98.0%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2.0% OF BUYERS DID NOT REORDER AT FULL PRICE  ·  61-DAY JOURNEY  ·  AGE 2–6 COHORT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45152" y="1591056"/>
            <a:ext cx="4041648" cy="22402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737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SIMULATION FOUND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45152" y="1938528"/>
            <a:ext cx="27432" cy="1691640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38528"/>
            <a:ext cx="38221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98% came back. The 2% who didn't had no reorder trigger at Day 60. The discount that drove trial had vanished. No nudge. No renewal cue. WOM from Priya created a near-unbreakable purchase habit — the lapse is a trigger absence, not satisfaction failure.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9744" y="33101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CONFIRMED: No reorder trigger (Day 55–60) · Price sensitivity at full price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41648" cy="6858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 TREE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REJECTED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2179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Habit not formed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94767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4767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reorder trigger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7355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7355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Price at full rate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A  ·  INTERVENTION SIMULATION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 re-ran the journey with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fix coded 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19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60120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Loyalty Pricing at Reorder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₹599 on second pack via app push at Day 55. "Here's your loyalty price."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30752" y="1719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+10pp reorder rate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6334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Social Proof Nudge at Day 50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WhatsApp: "3,400 parents reordered this month." Peer signal at the decision window.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30752" y="26334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+5pp reorder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547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LJ Pass Subscription Offer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Post-trial: ₹579/month, cancel anytime, delivered before the pack runs out.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30752" y="35478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Churn 29% → 18%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715000" y="1591056"/>
            <a:ext cx="2971800" cy="26334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448" y="1737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RE-SIMULATION OUTCOME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15000" y="193852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0299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817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98.0%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79008" y="268833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BASELINE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9168" y="2103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E5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79792" y="2029968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99%+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79792" y="26883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15000" y="2907792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99923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Baseline already near-saturated. Interventions lock in subscription conversion and protect against drift at scale — subscription target: 25–30% of reorderers.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85876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Test the fix in simulation before spending a rupee.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B  ·  MAGNESIUM GUMMIES — INCREASING SALES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Increasing Magnesium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Gummies sales.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RATE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32.5%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2487168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NON-BUYER RATE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78608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67.5%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67.5% NEVER TRIAL  ·  61-DAY JOURNEY  ·  200 PERSONAS  ·  AGE 3–8 COHORT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45152" y="1591056"/>
            <a:ext cx="4041648" cy="22402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737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SIMULATION FOUND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45152" y="1938528"/>
            <a:ext cx="27432" cy="1691640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38528"/>
            <a:ext cx="38221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67.5% of parents never trialed. The #1 blocker: the pediatrician said 'magnesium deficiency is rare — focus on routine.' Community outcome data had 0% conversion effect. Only one signal broke through: explicit pediatrician validation.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9744" y="33101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B-P3 (pediatrician endorsement): 90.0% trial. B-P2 (community data): 0.0% trial. The validator, not the data, is the lever.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41648" cy="6858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 TREE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REJECTED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2179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Community data drives trial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94767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PARTIAL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4767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Extended trial window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7355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7355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Pediatrician voice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B  ·  INTERVENTION SIMULATION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Remove the pediatrician's veto.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Watch trial — and reorders — follow.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19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60120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Pediatrician Explicit Endorsement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Partner with pediatricians to recommend magnesium gummies for sleep-routine parents. One positive recommendation converts 90% of skeptics (B-P3: 90.0%).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30752" y="1719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+57.5pp trial rate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6334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In-App Sleep Outcome Tracking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On-pack QR → app nightly log (3 questions, 60 seconds). Converts efficacy uncertainty into self-verified proof. 93.3% of trackers reordered (B-P1).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30752" y="26334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+70.2pp reorder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547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60-Day Extended Trial Window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30 days is too short to attribute sleep changes to gummies. A 60-day 'see-for-yourself' trial period resolves the causation objection for 66.7% of deferring parents (B-P4).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30752" y="35478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+34.2pp trial rate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715000" y="1591056"/>
            <a:ext cx="2971800" cy="26334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448" y="1737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RE-SIMULATION OUTCOME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15000" y="193852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0299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817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32.5%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79008" y="268833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BASELINE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9168" y="2103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E5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79792" y="2029968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90.0%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79792" y="26883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15000" y="2907792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99923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Pediatrician endorsement closes the acquisition gap. Among trialists, sleep tracking lifts reorder from 23.1% → 93.3% — resolving both the conversion and retention problem in one motion.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85876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endorsed recommendation costs less than one month of paid media.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C  ·  EXPANDING NUTRIMIX INTO AGE 7–14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Expanding Nutrimix into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school-age segment.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TRIAL RATE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37.2%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2487168" y="1591056"/>
            <a:ext cx="1920240" cy="13258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0048" y="17556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RATE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578608" y="197510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27.3%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7200" y="30358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72.7% DID NOT REORDER  ·  148 PERSONAS  ·  RS 549 VS BOURNVITA RS 399  ·  AGE 7–14 COHORT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45152" y="1591056"/>
            <a:ext cx="4041648" cy="224028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9744" y="17373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SIMULATION FOUND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645152" y="1938528"/>
            <a:ext cx="27432" cy="1691640"/>
          </a:xfrm>
          <a:prstGeom prst="rect">
            <a:avLst/>
          </a:prstGeom>
          <a:solidFill>
            <a:srgbClr val="A8FF3E"/>
          </a:solidFill>
          <a:ln w="12700">
            <a:solidFill>
              <a:srgbClr val="A8FF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1938528"/>
            <a:ext cx="382219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72.7% of trialists lapsed. Ingredient comparison (C-P1) had only 20% uptake — parents couldn't engage with nutrition data at the reorder moment. Family pack format (76.7%) and the child asking by name (73.3%) converted lapsers. Format, not facts.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09744" y="33101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child asked for it by name. The parent hesitated at Rs 549. A Rs 1,099 family pack changed the mental accounting entirely.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4041648" cy="68580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3364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HYPOTHESIS TREE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179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REJECTED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2179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Ingredient comparison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94767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94767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Family pack format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73552" y="3547872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CONFIRMED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73552" y="3712464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Child preference signal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LITTLEJOYS / PROBLEM C  ·  INTERVENTION SIMULATION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Give the family a pack.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Give the child a voice.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910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7190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60120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Multi-Child Family Pack (Rs 1,099)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Two 500g packs at Rs 549 each. Removes the per-child premium mental accounting and positions as a planned monthly household purchase. C-P2: 76.7% of lapsers convert.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730752" y="17190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+49.4pp reorder rate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6334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60120" y="2578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Child Preference Reinforcement Signal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60120" y="28346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 Day 45: 'Your child asked for Nutrimix again — reorder in one tap.' Turns the child's preference into a purchase trigger for the parent. C-P4: 73.3% of lapsers convert.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30752" y="26334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+46.0pp reorder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5074920" cy="8046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54787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012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Bournvita Comparison at Reorder Moment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Side-by-side iron, B12 and sugar content at the reorder screen. Partially effective — best for analytically-oriented segments. C-P3: 63.3% uptake.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730752" y="35478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+36.0pp reorder rate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715000" y="1591056"/>
            <a:ext cx="2971800" cy="2633472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0448" y="17373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RE-SIMULATION OUTCOME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715000" y="193852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9008" y="2029968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2817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27.3%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5779008" y="268833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2817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REORDER BASELINE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9168" y="2103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E5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79792" y="2029968"/>
            <a:ext cx="11155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93.8%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79792" y="26883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PROJECTED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715000" y="2907792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33872" y="2999232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Family pack (76.7%) and child preference signal (73.3%) address independent segments. Combined, they convert 93.8% of lapsers — a 66.5pp lift on reorder rate from the baseline.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715000" y="3858768"/>
            <a:ext cx="29718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new product required. Two format and timing changes — tested in simulation before any spend.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CROSS-JOURNEY SYNTHESIS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57200" y="749808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Each product has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one precise lever.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457200" y="306324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2461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04672" y="3218688"/>
            <a:ext cx="2450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Journey A (Probiotic): 98% trial, near-100% reorder. Trigger-based nurture closes the remaining lapse segment. The product is saturated — the lever is timing.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310128" y="32461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657600" y="3218688"/>
            <a:ext cx="2450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Journey B (Magnesium Gummies): 32.5% trial, 23.1% reorder. A new category with one blocker — the pediatrician's veto. Fix that, and trial lifts to 90%; sleep tracking then takes reorder to 93.3%.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163056" y="32461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510528" y="3218688"/>
            <a:ext cx="2450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Journey C (Nutrimix): 37.2% trial, 27.3% reorder → 93.8% with interventions. Not a price problem. A format and timing problem. Family pack + child preference signal resolved it entirely.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SIMULATTE ANSWERS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Five questions.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Answered in hours, not weeks.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190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170078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Will our new product earn a second purchase — or just a curious first trial?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6771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3225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14400" y="2304288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Which consumer segment has the highest untapped conversion potential right now?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871216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260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914400" y="290779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happens to our existing buyer base if we raise the price by 10%?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295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351129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Should we lead with the pediatrician, the peer, or the product — and for which segment?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078224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330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14400" y="41148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Between a loyalty programme, a tracking feature, and a referral mechanic — which moves the needle most?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SIMULATTE VS TRADITIONAL RESEARCH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Not a supplement.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 replacement.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36192"/>
            <a:ext cx="8229600" cy="29260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DIMENSION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566160" y="1600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TRADITIONAL RESEARCH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675120" y="1600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88366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Time to insight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75888" y="188366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6–12 weeks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84848" y="188366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FF3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2–24 hours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249424"/>
            <a:ext cx="8229600" cy="420624"/>
          </a:xfrm>
          <a:prstGeom prst="rect">
            <a:avLst/>
          </a:prstGeom>
          <a:solidFill>
            <a:srgbClr val="05050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3042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Cost per study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75888" y="230428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₹5–20L+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84848" y="23042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Fraction of traditional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670048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Sample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75888" y="27249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100–500 real respondents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84848" y="272491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200+ synthetic personas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90672"/>
            <a:ext cx="8229600" cy="420624"/>
          </a:xfrm>
          <a:prstGeom prst="rect">
            <a:avLst/>
          </a:prstGeom>
          <a:solidFill>
            <a:srgbClr val="05050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14553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Depth of finding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75888" y="314553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(tick boxes)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84848" y="314553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Why (5-step reasoning trace)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511296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5661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Repeatability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675888" y="35661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One study, one result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84848" y="356616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FF3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Infinite re-runs, scenario comparison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3931920"/>
            <a:ext cx="8229600" cy="420624"/>
          </a:xfrm>
          <a:prstGeom prst="rect">
            <a:avLst/>
          </a:prstGeom>
          <a:solidFill>
            <a:srgbClr val="05050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9867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Bias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675888" y="39867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Response bias, recall error, desirability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84848" y="398678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8FF3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None — personas decide, not respondents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352544"/>
            <a:ext cx="8229600" cy="420624"/>
          </a:xfrm>
          <a:prstGeom prst="rect">
            <a:avLst/>
          </a:prstGeom>
          <a:solidFill>
            <a:srgbClr val="07070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407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Iteration speed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75888" y="44074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study per question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84848" y="440740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 journey per question, same day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WHO SIMULATTE IS FOR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Built for brands that cannot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afford to get it wrong.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D2C BRANDS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212848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You're spending on acquisition. You need to know what kills retention before you scale — not after your CAC breaks the model.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0128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FMCG &amp; NUTRITION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74720" y="210312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0" y="2212848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You're competing with legacy brands that have 70-year trust moats. You need to know exactly which argument breaks through — before you spend on 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63056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82880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CATEGORY CREATORS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327648" y="210312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2212848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You're building a market that doesn't exist yet. You need to know which consumer concern is the wedge — and which is the wall.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A8FF3E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GETTING STARTED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One journey. One problem.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One answer. Then decide.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7315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64208"/>
            <a:ext cx="2651760" cy="10972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8836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21792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Define the problem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" y="265176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2761488"/>
            <a:ext cx="2331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decision are you trying to understand? Trial, reorder, switch, adoption — name the exact conversion moment.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10128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10128" y="1664208"/>
            <a:ext cx="2651760" cy="109728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8836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74720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We build the journey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474720" y="265176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2761488"/>
            <a:ext cx="2331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Our team configures the stimuli schedule, decision scenarios, and cohort profile for your specific brand context.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63056" y="1664208"/>
            <a:ext cx="2651760" cy="2834640"/>
          </a:xfrm>
          <a:prstGeom prst="rect">
            <a:avLst/>
          </a:prstGeom>
          <a:solidFill>
            <a:srgbClr val="111111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3056" y="1664208"/>
            <a:ext cx="2651760" cy="109728"/>
          </a:xfrm>
          <a:prstGeom prst="rect">
            <a:avLst/>
          </a:prstGeom>
          <a:solidFill>
            <a:srgbClr val="A8FF3E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188366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27648" y="215798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Explore the results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27648" y="2651760"/>
            <a:ext cx="233172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2761488"/>
            <a:ext cx="233172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6D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 24–48 hours: 200 persona decisions, full reasoning traces, hypothesis verdicts, and specific interventions with projected impact.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4759452"/>
            <a:ext cx="8229600" cy="4572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7960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 / 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7960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9202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256032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384048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48056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5120640"/>
            <a:ext cx="914400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1673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7510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3347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9184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5020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0857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2531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42048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00416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58784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17152" y="0"/>
            <a:ext cx="0" cy="514350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91440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Simulate reality.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E9E6D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Decide better.</a:t>
            </a:r>
            <a:endParaRPr lang="en-US" sz="6200" dirty="0"/>
          </a:p>
        </p:txBody>
      </p:sp>
      <p:sp>
        <p:nvSpPr>
          <p:cNvPr id="27" name="Text 25"/>
          <p:cNvSpPr/>
          <p:nvPr/>
        </p:nvSpPr>
        <p:spPr>
          <a:xfrm>
            <a:off x="45720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2817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Simulatte is decision infrastructure for the AI age. Built on behavioural science. Designed for practitioners who need outcomes, not reports.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041648"/>
            <a:ext cx="3657600" cy="0"/>
          </a:xfrm>
          <a:prstGeom prst="line">
            <a:avLst/>
          </a:prstGeom>
          <a:noFill/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16966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5E5E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simulatte.ai  ·  hello@simulatte.ai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0" y="41696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8FF3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STOP TESTING ON REALITY.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Simulatte — Consumer Decision Infrastructure</dc:title>
  <dc:subject>PptxGenJS Presentation</dc:subject>
  <dc:creator>Simulatte</dc:creator>
  <cp:lastModifiedBy>Simulatte</cp:lastModifiedBy>
  <cp:revision>1</cp:revision>
  <dcterms:created xsi:type="dcterms:W3CDTF">2026-04-06T14:02:17Z</dcterms:created>
  <dcterms:modified xsi:type="dcterms:W3CDTF">2026-04-06T14:02:17Z</dcterms:modified>
</cp:coreProperties>
</file>